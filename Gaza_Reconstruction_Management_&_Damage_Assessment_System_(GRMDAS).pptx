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70" r:id="rId11"/>
    <p:sldId id="271" r:id="rId12"/>
    <p:sldId id="263" r:id="rId13"/>
    <p:sldId id="272" r:id="rId14"/>
    <p:sldId id="275" r:id="rId15"/>
    <p:sldId id="264" r:id="rId16"/>
    <p:sldId id="276" r:id="rId17"/>
    <p:sldId id="265" r:id="rId18"/>
    <p:sldId id="266" r:id="rId19"/>
    <p:sldId id="26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1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01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B871-9DE8-1BA9-486D-3BA4F98E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0E77C-D0D4-6A09-2C3D-9734F083D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8865C-6996-4F99-4474-28EC075BB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CEAF3-0840-0CD9-5FE9-22C2B4677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94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FBB3-BD15-0A4C-7BC8-3B56ADC64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ADA0F-ED82-F187-CCB5-2311CB079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F6809-B799-8DED-E671-47EF28E6D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45C55-CBCA-51C7-19AC-B6C6EB7B3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87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AC2F0-E017-739E-42C5-0721CCC0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170A0-3EA8-8A1D-15D5-C3D074FD3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7B683-1622-04D3-9197-BB2CCD0FA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FA879-5154-787E-837A-09262488F1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0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52A0-B9EC-15CA-0A47-503BC60F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96E4B-67B3-4557-FAC7-39581323C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05EB3-9DD5-E9C4-312A-FE874837F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0C13E-CC8A-9BCE-7625-825D1CDFB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28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A47E-D005-877F-D243-574BAB71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C5A82-78FF-91C1-2211-6D2D24F91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C6888-7491-BF53-FED7-2F69AE8B3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99198-463A-C040-48C2-55BC22963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25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74B3-78C9-575A-C3DE-584299EF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C9739-7168-3A89-84C4-2CF1F395B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87EDB-B9AB-7258-8433-338D4CED1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6433C-0D07-52A6-5BA4-1123CC456C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4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0C68-9D1B-D55F-952D-F478B77E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D6F77-0C1B-333A-82D0-BFA8D3669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F00E8-CD39-9B54-80AB-E1E5457A9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C7E32-DA50-BE9C-E78E-0D2483EE7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91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jpe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692944"/>
            <a:ext cx="77152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GAZA RECONSTRUCTION MANAGEMENT &amp; DAMAGE ASSESSMENT SYSTEM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3129855" y="2287395"/>
            <a:ext cx="28842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Graduation Project - GRMDAS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28700" y="3230370"/>
            <a:ext cx="3471863" cy="957263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28700" y="3230370"/>
            <a:ext cx="28575" cy="9572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1114425" y="3316095"/>
            <a:ext cx="33004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D4AF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PREPARED BY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4425" y="3566127"/>
            <a:ext cx="168592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Talha Salah Mahmoud Siam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14425" y="3864378"/>
            <a:ext cx="913712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ID: 1301204963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43438" y="3230370"/>
            <a:ext cx="3471863" cy="957263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43438" y="3230370"/>
            <a:ext cx="28575" cy="9572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4729163" y="3316095"/>
            <a:ext cx="33004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D4AF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SUPERVISED BY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29163" y="3566127"/>
            <a:ext cx="330041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Dr. Shadia Baroud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881610" y="4316220"/>
            <a:ext cx="3380780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8F9FA">
                    <a:alpha val="70000"/>
                  </a:srgbClr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Al-Aqsa University – Gaza | Faculty of Computer Science and IT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INTRODUCTION &amp; BACKGROUND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46584"/>
            <a:ext cx="428625" cy="428625"/>
          </a:xfrm>
          <a:prstGeom prst="rect">
            <a:avLst/>
          </a:prstGeom>
          <a:solidFill>
            <a:srgbClr val="1D355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375172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1418034"/>
            <a:ext cx="332184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Context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3000" y="1755577"/>
            <a:ext cx="332184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Recent conflict in the Gaza Strip has resulted in severe damage to residential, governmental, and essential public infrastructure.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679156" y="1246584"/>
            <a:ext cx="428625" cy="428625"/>
          </a:xfrm>
          <a:prstGeom prst="rect">
            <a:avLst/>
          </a:prstGeom>
          <a:solidFill>
            <a:srgbClr val="1D355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375172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0656" y="1387890"/>
            <a:ext cx="332184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250656" y="1755577"/>
            <a:ext cx="332184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Damage assessment currently relies on manual procedures and fragmented digital tools, leading to significant inefficiency.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71500" y="2772780"/>
            <a:ext cx="428625" cy="428625"/>
          </a:xfrm>
          <a:prstGeom prst="rect">
            <a:avLst/>
          </a:prstGeom>
          <a:solidFill>
            <a:srgbClr val="1D3557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8" y="2901367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904038"/>
            <a:ext cx="332184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Consequences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143000" y="3261676"/>
            <a:ext cx="3321844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Manual processes cause data inconsistency, duplication of efforts.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679156" y="2772780"/>
            <a:ext cx="428625" cy="428625"/>
          </a:xfrm>
          <a:prstGeom prst="rect">
            <a:avLst/>
          </a:prstGeom>
          <a:solidFill>
            <a:srgbClr val="1D3557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2901367"/>
            <a:ext cx="128588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50656" y="2914086"/>
            <a:ext cx="332184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250656" y="3261676"/>
            <a:ext cx="332184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The GRMDAS system is proposed to modernize and centralize the damage assessment process through a robust web platform.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571500" y="4241825"/>
            <a:ext cx="8001000" cy="38040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4AF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"Aiming to support faster recovery efforts and improve coordination among all stakeholders in the reconstruction phase."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1488"/>
            <a:ext cx="871537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PROBLEM STATEMENT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432322"/>
            <a:ext cx="1975247" cy="2493169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3889772"/>
            <a:ext cx="1975247" cy="35719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979" y="1757363"/>
            <a:ext cx="312539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925" y="2430661"/>
            <a:ext cx="174664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FRAGMENTED DATA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85788" y="2721769"/>
            <a:ext cx="16609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Information is scattered across paper records and isolated spreadsheets, making consolidation difficult.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532459" y="1432322"/>
            <a:ext cx="1975247" cy="2493169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0" name="Shape 6"/>
          <p:cNvSpPr/>
          <p:nvPr/>
        </p:nvSpPr>
        <p:spPr>
          <a:xfrm>
            <a:off x="2532459" y="3889772"/>
            <a:ext cx="1975247" cy="35719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1489" y="1757363"/>
            <a:ext cx="357188" cy="357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46759" y="2430661"/>
            <a:ext cx="174664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DELAYED INSIGHTS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689622" y="2721769"/>
            <a:ext cx="16609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Decision-makers lack real-time statistics regarding damage types and severity for effective planning.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636294" y="1432322"/>
            <a:ext cx="1975247" cy="2493169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5" name="Shape 10"/>
          <p:cNvSpPr/>
          <p:nvPr/>
        </p:nvSpPr>
        <p:spPr>
          <a:xfrm>
            <a:off x="4636294" y="3889772"/>
            <a:ext cx="1975247" cy="35719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1757363"/>
            <a:ext cx="446484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50594" y="2430661"/>
            <a:ext cx="1746647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INEFFICIENT WORKFLOW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93456" y="2912864"/>
            <a:ext cx="16609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Manual verification and approval processes are slow, labor-intensive, and prone to human error.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6740128" y="1432322"/>
            <a:ext cx="1975247" cy="2493169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20" name="Shape 14"/>
          <p:cNvSpPr/>
          <p:nvPr/>
        </p:nvSpPr>
        <p:spPr>
          <a:xfrm>
            <a:off x="6740128" y="3889772"/>
            <a:ext cx="1975247" cy="35719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4509" y="1757363"/>
            <a:ext cx="446484" cy="3571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4428" y="2430661"/>
            <a:ext cx="1746647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TRANSPARENCY GAP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897291" y="2912864"/>
            <a:ext cx="16609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Citizens cannot easily track their reconstruction requests, leading to trust issues and uncertainty.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57213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 OBJECTIVES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196578"/>
            <a:ext cx="8001000" cy="118011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196578"/>
            <a:ext cx="8001000" cy="14288"/>
          </a:xfrm>
          <a:prstGeom prst="rect">
            <a:avLst/>
          </a:prstGeom>
          <a:solidFill>
            <a:srgbClr val="F2E7C3"/>
          </a:solidFill>
          <a:ln/>
        </p:spPr>
      </p:sp>
      <p:sp>
        <p:nvSpPr>
          <p:cNvPr id="6" name="Text 3"/>
          <p:cNvSpPr/>
          <p:nvPr/>
        </p:nvSpPr>
        <p:spPr>
          <a:xfrm>
            <a:off x="628650" y="1468041"/>
            <a:ext cx="8001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GENERAL OBJECTIVE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650" y="1882378"/>
            <a:ext cx="8001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To design and implement a centralized, web-based system for managing building damage assessment and reconstruction efforts in the Gaza Strip.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650" y="2533855"/>
            <a:ext cx="3957638" cy="768986"/>
          </a:xfrm>
          <a:prstGeom prst="rect">
            <a:avLst/>
          </a:prstGeom>
          <a:solidFill>
            <a:srgbClr val="1D355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685659"/>
            <a:ext cx="214313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2726532"/>
            <a:ext cx="34718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Citizen Portal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28700" y="2902438"/>
            <a:ext cx="3471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Develop a secure, user-friendly interface for citizens to report damages and track their requests.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72013" y="2533855"/>
            <a:ext cx="3957638" cy="768986"/>
          </a:xfrm>
          <a:prstGeom prst="rect">
            <a:avLst/>
          </a:prstGeom>
          <a:solidFill>
            <a:srgbClr val="1D355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738" y="2685659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2686337"/>
            <a:ext cx="3514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029200" y="2902439"/>
            <a:ext cx="35147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Create a robust dashboard for administrators to visualize real-time statistics and damage categories.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28650" y="3388565"/>
            <a:ext cx="3957638" cy="768986"/>
          </a:xfrm>
          <a:prstGeom prst="rect">
            <a:avLst/>
          </a:prstGeom>
          <a:solidFill>
            <a:srgbClr val="1D355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540370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5838" y="3571195"/>
            <a:ext cx="3514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Automated Workflow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85838" y="3737049"/>
            <a:ext cx="35147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Streamline the verification and approval process to reduce human error and processing time.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672013" y="3388565"/>
            <a:ext cx="3957638" cy="768986"/>
          </a:xfrm>
          <a:prstGeom prst="rect">
            <a:avLst/>
          </a:prstGeom>
          <a:solidFill>
            <a:srgbClr val="1D355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738" y="3540370"/>
            <a:ext cx="150019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07769" y="3571195"/>
            <a:ext cx="35361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Accurate Data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007769" y="3767197"/>
            <a:ext cx="35361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Provide decision-makers with reliable, centralized data to prioritize reconstruction projects effectively.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500063"/>
            <a:ext cx="88011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THEORETICAL FRAMEWORK: TECHNOLOGIES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42900" y="1146572"/>
            <a:ext cx="4164806" cy="120015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146572"/>
            <a:ext cx="35719" cy="120015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8" y="1528763"/>
            <a:ext cx="482203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2278" y="1526446"/>
            <a:ext cx="34254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 STACK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82278" y="1778264"/>
            <a:ext cx="34254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HTML5, CSS3, JavaScript, and Bootstrap 5. Optimized for RTL (Arabic) and responsive layouts.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36294" y="1146572"/>
            <a:ext cx="4164806" cy="120015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0" name="Shape 6"/>
          <p:cNvSpPr/>
          <p:nvPr/>
        </p:nvSpPr>
        <p:spPr>
          <a:xfrm>
            <a:off x="4636294" y="1146572"/>
            <a:ext cx="35719" cy="120015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881" y="1528763"/>
            <a:ext cx="535781" cy="428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07819" y="1526446"/>
            <a:ext cx="339328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 LOGIC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07819" y="1778264"/>
            <a:ext cx="3393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PHP for robust server-side processing and secure data handling.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42900" y="2475309"/>
            <a:ext cx="4164806" cy="120015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5" name="Shape 10"/>
          <p:cNvSpPr/>
          <p:nvPr/>
        </p:nvSpPr>
        <p:spPr>
          <a:xfrm>
            <a:off x="342900" y="2475309"/>
            <a:ext cx="35719" cy="120015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574" y="2857500"/>
            <a:ext cx="375047" cy="4286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7295" y="2855184"/>
            <a:ext cx="347041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MANAGEMENT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7295" y="3107001"/>
            <a:ext cx="347041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MySQL for structured data storage, ensuring integrity and efficient retrieval.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36294" y="2475309"/>
            <a:ext cx="4164806" cy="120015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20" name="Shape 14"/>
          <p:cNvSpPr/>
          <p:nvPr/>
        </p:nvSpPr>
        <p:spPr>
          <a:xfrm>
            <a:off x="4636294" y="2475309"/>
            <a:ext cx="35719" cy="120015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881" y="2857500"/>
            <a:ext cx="482203" cy="4286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75672" y="2855184"/>
            <a:ext cx="34254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375672" y="3107001"/>
            <a:ext cx="34254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Client-Server model with a loosely applied MVC pattern for organized code and scalability.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342900" y="3775472"/>
            <a:ext cx="1952030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Development Environment:</a:t>
            </a:r>
            <a:r>
              <a:rPr lang="en-US" sz="950" dirty="0">
                <a:solidFill>
                  <a:srgbClr val="F8F9FA">
                    <a:alpha val="60000"/>
                  </a:srgbClr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VS Code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2494955" y="3775472"/>
            <a:ext cx="113049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Local Server:</a:t>
            </a:r>
            <a:r>
              <a:rPr lang="en-US" sz="950" dirty="0">
                <a:solidFill>
                  <a:srgbClr val="F8F9FA">
                    <a:alpha val="60000"/>
                  </a:srgbClr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XAMPP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3825478" y="3775472"/>
            <a:ext cx="1464469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UI Framework:</a:t>
            </a:r>
            <a:r>
              <a:rPr lang="en-US" sz="950" dirty="0">
                <a:solidFill>
                  <a:srgbClr val="F8F9FA">
                    <a:alpha val="60000"/>
                  </a:srgbClr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Bootstrap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DEVELOPMENT METHODOLOGY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325166"/>
            <a:ext cx="4057650" cy="1571625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25166"/>
            <a:ext cx="35719" cy="1571625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0378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675" y="1668066"/>
            <a:ext cx="201989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Agile Development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71500" y="2039541"/>
            <a:ext cx="37719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An iterative approach that ensures flexibility, allowing the system to adapt to evolving requirements and stakeholder feedback throughout the project lifecycle.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57725" y="1325166"/>
            <a:ext cx="4057650" cy="1571625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0" name="Shape 6"/>
          <p:cNvSpPr/>
          <p:nvPr/>
        </p:nvSpPr>
        <p:spPr>
          <a:xfrm>
            <a:off x="4657725" y="1325166"/>
            <a:ext cx="35719" cy="1571625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703784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57775" y="1668066"/>
            <a:ext cx="12501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Prototyping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800600" y="2039541"/>
            <a:ext cx="37719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Developing functional models of the system to visualize the user interface and refine core functionalities before full-scale implementation.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28625" y="3268266"/>
            <a:ext cx="8286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IMPLEMENTATION PROCESS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8625" y="3559373"/>
            <a:ext cx="8286750" cy="734020"/>
          </a:xfrm>
          <a:prstGeom prst="rect">
            <a:avLst/>
          </a:prstGeom>
          <a:solidFill>
            <a:srgbClr val="1D3557">
              <a:alpha val="3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28650" y="3645098"/>
            <a:ext cx="181094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28650" y="3966567"/>
            <a:ext cx="181094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ANALYSIS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3169" y="3838873"/>
            <a:ext cx="107156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53903" y="3645098"/>
            <a:ext cx="181094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2653903" y="3966567"/>
            <a:ext cx="181094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DESIGN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422" y="3838873"/>
            <a:ext cx="107156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79156" y="3645098"/>
            <a:ext cx="181094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679156" y="3966567"/>
            <a:ext cx="181094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IMPLEMENTATION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838873"/>
            <a:ext cx="107156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04409" y="3645098"/>
            <a:ext cx="181094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704409" y="3966567"/>
            <a:ext cx="181094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8F9FA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TESTING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92906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ARCHITECTURE &amp; DESIGN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232297"/>
            <a:ext cx="4043363" cy="2269927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232297"/>
            <a:ext cx="35719" cy="2269927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546622"/>
            <a:ext cx="375761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ACTORS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32384"/>
            <a:ext cx="214313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538" y="1929705"/>
            <a:ext cx="101441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Affected Citizens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86000"/>
            <a:ext cx="214313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1538" y="2273732"/>
            <a:ext cx="151447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Administrative Personnel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39616"/>
            <a:ext cx="214313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71538" y="2627348"/>
            <a:ext cx="1418034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Field Engineers (Future)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571500" y="2959298"/>
            <a:ext cx="3757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The system defines clear roles and permissions to ensure data security and workflow integrity.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4672013" y="1232297"/>
            <a:ext cx="1964531" cy="1077813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4672013" y="1232297"/>
            <a:ext cx="1964531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0"/>
          <p:cNvSpPr/>
          <p:nvPr/>
        </p:nvSpPr>
        <p:spPr>
          <a:xfrm>
            <a:off x="4757738" y="1489025"/>
            <a:ext cx="17930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Case Diagram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757738" y="1746200"/>
            <a:ext cx="179308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Illustrates interactions between actors and system functionalities.</a:t>
            </a:r>
            <a:endParaRPr lang="en-US" sz="750" dirty="0"/>
          </a:p>
        </p:txBody>
      </p:sp>
      <p:sp>
        <p:nvSpPr>
          <p:cNvPr id="18" name="Shape 12"/>
          <p:cNvSpPr/>
          <p:nvPr/>
        </p:nvSpPr>
        <p:spPr>
          <a:xfrm>
            <a:off x="6750844" y="1232297"/>
            <a:ext cx="1964531" cy="1077813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6750844" y="1232297"/>
            <a:ext cx="1964531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4"/>
          <p:cNvSpPr/>
          <p:nvPr/>
        </p:nvSpPr>
        <p:spPr>
          <a:xfrm>
            <a:off x="6836569" y="1489025"/>
            <a:ext cx="17930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Diagram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836569" y="1746200"/>
            <a:ext cx="179308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Represents the logical structure and database entity relationships.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672013" y="2417266"/>
            <a:ext cx="1964531" cy="1084957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4672013" y="2417266"/>
            <a:ext cx="1964531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18"/>
          <p:cNvSpPr/>
          <p:nvPr/>
        </p:nvSpPr>
        <p:spPr>
          <a:xfrm>
            <a:off x="4757738" y="2673995"/>
            <a:ext cx="17930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Sequence Diagram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757738" y="2931170"/>
            <a:ext cx="179308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Demonstrates the chronological sequence of system operations.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6750844" y="2417266"/>
            <a:ext cx="1964531" cy="1084957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6750844" y="2417266"/>
            <a:ext cx="1964531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2"/>
          <p:cNvSpPr/>
          <p:nvPr/>
        </p:nvSpPr>
        <p:spPr>
          <a:xfrm>
            <a:off x="6836569" y="2681139"/>
            <a:ext cx="17930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Activity Diagram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36569" y="2938314"/>
            <a:ext cx="179308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Explains the workflow involved in submitting damage reports.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428625" y="3816548"/>
            <a:ext cx="8286750" cy="39112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8F9FA">
                    <a:alpha val="70000"/>
                  </a:srgbClr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Unified Modeling Language (UML) was utilized to translate functional requirements into a technical blueprint.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38FB2-598E-E8F4-446D-E0DFF5E15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8411D85-8A44-FB61-DFD0-AE0BA04F5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036"/>
            <a:ext cx="9144000" cy="520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1C5C8CB-EA3B-7850-9254-A1A1F4286D3B}"/>
              </a:ext>
            </a:extLst>
          </p:cNvPr>
          <p:cNvSpPr/>
          <p:nvPr/>
        </p:nvSpPr>
        <p:spPr>
          <a:xfrm>
            <a:off x="571500" y="392906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ARCHITECTURE &amp; DESIGN</a:t>
            </a:r>
            <a:endParaRPr lang="en-US" sz="24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09852BF0-0F80-FF9E-D8BC-6294C19C7144}"/>
              </a:ext>
            </a:extLst>
          </p:cNvPr>
          <p:cNvSpPr/>
          <p:nvPr/>
        </p:nvSpPr>
        <p:spPr>
          <a:xfrm>
            <a:off x="643095" y="1142617"/>
            <a:ext cx="8078874" cy="3740882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D0234E3-F5E0-F47E-AC05-05359916DF65}"/>
              </a:ext>
            </a:extLst>
          </p:cNvPr>
          <p:cNvSpPr/>
          <p:nvPr/>
        </p:nvSpPr>
        <p:spPr>
          <a:xfrm>
            <a:off x="828832" y="1297973"/>
            <a:ext cx="21555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Diagram</a:t>
            </a:r>
            <a:endParaRPr lang="en-US" sz="1400" dirty="0"/>
          </a:p>
        </p:txBody>
      </p:sp>
      <p:pic>
        <p:nvPicPr>
          <p:cNvPr id="4" name="صورة 3" descr="PlantUML Diagram">
            <a:extLst>
              <a:ext uri="{FF2B5EF4-FFF2-40B4-BE49-F238E27FC236}">
                <a16:creationId xmlns:a16="http://schemas.microsoft.com/office/drawing/2014/main" id="{BFB99AD7-E276-7279-E34C-A8005E8A9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991" y="1170166"/>
            <a:ext cx="6229979" cy="3711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0538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174E-CB78-75B4-DF4D-C959EB451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57F13AF-F523-B60F-00C3-53A3D2D2E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036"/>
            <a:ext cx="9144000" cy="520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0B8F04C-D156-1D9E-FE2C-B705B7E34296}"/>
              </a:ext>
            </a:extLst>
          </p:cNvPr>
          <p:cNvSpPr/>
          <p:nvPr/>
        </p:nvSpPr>
        <p:spPr>
          <a:xfrm>
            <a:off x="571500" y="392906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ARCHITECTURE &amp; DESIGN</a:t>
            </a:r>
            <a:endParaRPr lang="en-US" sz="24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ED87FA8A-FC63-2315-B9BC-9392B4A486B7}"/>
              </a:ext>
            </a:extLst>
          </p:cNvPr>
          <p:cNvSpPr/>
          <p:nvPr/>
        </p:nvSpPr>
        <p:spPr>
          <a:xfrm>
            <a:off x="631790" y="1142617"/>
            <a:ext cx="8078874" cy="3740882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2E950973-8DAD-9EB3-19F9-94089DE48C6D}"/>
              </a:ext>
            </a:extLst>
          </p:cNvPr>
          <p:cNvSpPr/>
          <p:nvPr/>
        </p:nvSpPr>
        <p:spPr>
          <a:xfrm>
            <a:off x="828832" y="1297973"/>
            <a:ext cx="21555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Case Diagram</a:t>
            </a:r>
            <a:endParaRPr lang="en-US" sz="1400" dirty="0"/>
          </a:p>
        </p:txBody>
      </p:sp>
      <p:pic>
        <p:nvPicPr>
          <p:cNvPr id="32" name="صورة 31">
            <a:extLst>
              <a:ext uri="{FF2B5EF4-FFF2-40B4-BE49-F238E27FC236}">
                <a16:creationId xmlns:a16="http://schemas.microsoft.com/office/drawing/2014/main" id="{C15D4114-932C-E9D4-9AF6-57A68CCC8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56" y="1142617"/>
            <a:ext cx="6008914" cy="3740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4778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6F72-1550-B1F1-3DB1-9A231DF65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62075B1-CA6C-C1C4-CC78-4F4ED59C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036"/>
            <a:ext cx="9144000" cy="520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16B2B00-9827-AC81-94B1-826358292601}"/>
              </a:ext>
            </a:extLst>
          </p:cNvPr>
          <p:cNvSpPr/>
          <p:nvPr/>
        </p:nvSpPr>
        <p:spPr>
          <a:xfrm>
            <a:off x="571500" y="392906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ARCHITECTURE &amp; DESIGN</a:t>
            </a:r>
            <a:endParaRPr lang="en-US" sz="24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11979A50-40E1-9DBB-D101-FE2B9C615C6C}"/>
              </a:ext>
            </a:extLst>
          </p:cNvPr>
          <p:cNvSpPr/>
          <p:nvPr/>
        </p:nvSpPr>
        <p:spPr>
          <a:xfrm>
            <a:off x="643095" y="1142617"/>
            <a:ext cx="8078874" cy="3740882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55D480B-462A-9966-4AD8-022B87575ACC}"/>
              </a:ext>
            </a:extLst>
          </p:cNvPr>
          <p:cNvSpPr/>
          <p:nvPr/>
        </p:nvSpPr>
        <p:spPr>
          <a:xfrm>
            <a:off x="828832" y="1297973"/>
            <a:ext cx="21555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Sequence Diagram</a:t>
            </a:r>
            <a:endParaRPr lang="en-US" sz="1400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4349700E-B279-6B1B-F48C-E4A98A7D8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152" y="1142617"/>
            <a:ext cx="5988817" cy="3727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3727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B41F-89D3-5D44-03E8-11CC87FE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8783EB8-32EE-AE09-E9D5-C5408FD5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036"/>
            <a:ext cx="9144000" cy="52095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D5FA918-F29E-EF52-2ADF-8ABDB187D0CB}"/>
              </a:ext>
            </a:extLst>
          </p:cNvPr>
          <p:cNvSpPr/>
          <p:nvPr/>
        </p:nvSpPr>
        <p:spPr>
          <a:xfrm>
            <a:off x="571500" y="392906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ARCHITECTURE &amp; DESIGN</a:t>
            </a:r>
            <a:endParaRPr lang="en-US" sz="24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4DD3772-0E45-1973-3AB4-54B46CB1DD96}"/>
              </a:ext>
            </a:extLst>
          </p:cNvPr>
          <p:cNvSpPr/>
          <p:nvPr/>
        </p:nvSpPr>
        <p:spPr>
          <a:xfrm>
            <a:off x="643095" y="1142617"/>
            <a:ext cx="8078874" cy="3740882"/>
          </a:xfrm>
          <a:prstGeom prst="rect">
            <a:avLst/>
          </a:prstGeom>
          <a:solidFill>
            <a:srgbClr val="1D3557">
              <a:alpha val="50000"/>
            </a:srgbClr>
          </a:solidFill>
          <a:ln/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9C72713-76E9-8BC7-0AC0-915579E0C77C}"/>
              </a:ext>
            </a:extLst>
          </p:cNvPr>
          <p:cNvSpPr/>
          <p:nvPr/>
        </p:nvSpPr>
        <p:spPr>
          <a:xfrm>
            <a:off x="828832" y="1297973"/>
            <a:ext cx="21555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Activity Diagram</a:t>
            </a:r>
            <a:endParaRPr lang="en-US" sz="1400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ADBF7DED-A3A9-EC7E-2E97-82E4F9DB5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524" y="1142617"/>
            <a:ext cx="6119446" cy="3740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285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FEATURES: CITIZEN PORTAL (HOME PAGE)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60859"/>
            <a:ext cx="3957638" cy="1042988"/>
          </a:xfrm>
          <a:prstGeom prst="rect">
            <a:avLst/>
          </a:prstGeom>
          <a:solidFill>
            <a:srgbClr val="1D3557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60859"/>
            <a:ext cx="28575" cy="10429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401068"/>
            <a:ext cx="176808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2620" y="1375172"/>
            <a:ext cx="192524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SUBMISSION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00088" y="1655564"/>
            <a:ext cx="3829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 multi-step wizard guides citizens through verification, personal details, and building information to ensure data accuracy.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14863" y="1160859"/>
            <a:ext cx="3957638" cy="1042988"/>
          </a:xfrm>
          <a:prstGeom prst="rect">
            <a:avLst/>
          </a:prstGeom>
          <a:solidFill>
            <a:srgbClr val="1D3557">
              <a:alpha val="4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614863" y="1160859"/>
            <a:ext cx="28575" cy="10429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1401068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86338" y="1375172"/>
            <a:ext cx="175379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EVIDENCE UPLOAD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43450" y="1655564"/>
            <a:ext cx="3829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Integrated functionality for attaching photographic evidence of damages, supporting verification and cost estimation.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2289572"/>
            <a:ext cx="3957638" cy="1042988"/>
          </a:xfrm>
          <a:prstGeom prst="rect">
            <a:avLst/>
          </a:prstGeom>
          <a:solidFill>
            <a:srgbClr val="1D3557">
              <a:alpha val="4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289572"/>
            <a:ext cx="28575" cy="10429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8" y="2529780"/>
            <a:ext cx="157163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2975" y="2503884"/>
            <a:ext cx="183773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REQUEST TRACKING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00088" y="2784277"/>
            <a:ext cx="3829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Citizens can securely check the status of their previous submissions (Pending, Approved, Rejected) using their National ID.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14863" y="2289572"/>
            <a:ext cx="3957638" cy="1042988"/>
          </a:xfrm>
          <a:prstGeom prst="rect">
            <a:avLst/>
          </a:prstGeom>
          <a:solidFill>
            <a:srgbClr val="1D3557">
              <a:alpha val="4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614863" y="2289572"/>
            <a:ext cx="28575" cy="10429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2529780"/>
            <a:ext cx="117872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47047" y="2503884"/>
            <a:ext cx="13180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OPTIMIZED UX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743450" y="2784277"/>
            <a:ext cx="3829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Full support for Arabic (RTL) and responsive design ensures accessibility across smartphones, tablets, and desktops.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571500" y="3418284"/>
            <a:ext cx="8001000" cy="3393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F37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"Empowering citizens with a transparent and accessible digital interface for reconstruction claims."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3B58-F287-27E1-BDCC-DF4CBFE9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77263CB-ADAC-2C14-B621-45E8E2F14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5" name="صورة 24">
            <a:extLst>
              <a:ext uri="{FF2B5EF4-FFF2-40B4-BE49-F238E27FC236}">
                <a16:creationId xmlns:a16="http://schemas.microsoft.com/office/drawing/2014/main" id="{3E9939AA-4DB9-4893-2EAA-DA0DC0D1B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77907"/>
            <a:ext cx="4571999" cy="2594955"/>
          </a:xfrm>
          <a:prstGeom prst="rect">
            <a:avLst/>
          </a:prstGeom>
        </p:spPr>
      </p:pic>
      <p:pic>
        <p:nvPicPr>
          <p:cNvPr id="27" name="صورة 26">
            <a:extLst>
              <a:ext uri="{FF2B5EF4-FFF2-40B4-BE49-F238E27FC236}">
                <a16:creationId xmlns:a16="http://schemas.microsoft.com/office/drawing/2014/main" id="{54DC5283-4FB7-E3A4-4A30-BD6658BEF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77907"/>
            <a:ext cx="4571999" cy="2594955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03D9E642-0CF6-AA01-7D61-8125F7249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2672863"/>
            <a:ext cx="4571999" cy="2470638"/>
          </a:xfrm>
          <a:prstGeom prst="rect">
            <a:avLst/>
          </a:prstGeom>
        </p:spPr>
      </p:pic>
      <p:pic>
        <p:nvPicPr>
          <p:cNvPr id="29" name="صورة 28">
            <a:extLst>
              <a:ext uri="{FF2B5EF4-FFF2-40B4-BE49-F238E27FC236}">
                <a16:creationId xmlns:a16="http://schemas.microsoft.com/office/drawing/2014/main" id="{7AAE7493-606B-4D4B-082C-841E85B5E8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1" y="2672863"/>
            <a:ext cx="4572000" cy="247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78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BB4B0-79BA-AD17-4B4A-CD36FD5E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0F3A914-6527-A941-26DC-156958518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AE59B91A-C726-81DB-21CF-602DF59E6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3916"/>
            <a:ext cx="4401178" cy="2878273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A3B88F8C-1025-B348-79D9-C3FF7E642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1178" y="103915"/>
            <a:ext cx="4742823" cy="2878273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E336BD0D-435F-26CB-7E73-25EC1C2D0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982188"/>
            <a:ext cx="9144000" cy="216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80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57213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FEATURES: ADMIN DASHBOARD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232297"/>
            <a:ext cx="3886200" cy="779004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232297"/>
            <a:ext cx="28575" cy="779004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3" y="1289447"/>
            <a:ext cx="192881" cy="1857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2272" y="1348550"/>
            <a:ext cx="33932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STATISTICS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21556" y="1545059"/>
            <a:ext cx="33932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Instant visualization of total, pending, approved, and rejected requests for rapid assessment.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28650" y="2068450"/>
            <a:ext cx="3886200" cy="779004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0" name="Shape 6"/>
          <p:cNvSpPr/>
          <p:nvPr/>
        </p:nvSpPr>
        <p:spPr>
          <a:xfrm>
            <a:off x="628650" y="2068450"/>
            <a:ext cx="28575" cy="779004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63" y="2125600"/>
            <a:ext cx="171450" cy="1857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0125" y="2165114"/>
            <a:ext cx="34147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REQUEST MANAGEMENT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000125" y="2411188"/>
            <a:ext cx="34147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Centralized interface to verify submissions, update statuses, and filter data by location or damage type.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28650" y="2904604"/>
            <a:ext cx="3886200" cy="779004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5" name="Shape 10"/>
          <p:cNvSpPr/>
          <p:nvPr/>
        </p:nvSpPr>
        <p:spPr>
          <a:xfrm>
            <a:off x="628650" y="2904604"/>
            <a:ext cx="28575" cy="779004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3" y="2961754"/>
            <a:ext cx="214313" cy="1857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42988" y="3018904"/>
            <a:ext cx="33718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&amp; SYSTEM CONTROL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042988" y="3239774"/>
            <a:ext cx="33718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Secure management of administrative accounts and global system settings for the GRMDAS platform.</a:t>
            </a:r>
            <a:endParaRPr lang="en-US" sz="850" dirty="0"/>
          </a:p>
        </p:txBody>
      </p:sp>
      <p:pic>
        <p:nvPicPr>
          <p:cNvPr id="22" name="صورة 21">
            <a:extLst>
              <a:ext uri="{FF2B5EF4-FFF2-40B4-BE49-F238E27FC236}">
                <a16:creationId xmlns:a16="http://schemas.microsoft.com/office/drawing/2014/main" id="{AC787D2B-76B0-CB06-84BC-F0484BD10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862" y="1232297"/>
            <a:ext cx="4257833" cy="36311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1A96A-52BA-AF22-F3CF-3492EED3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1D8C97E-6CEC-8E65-8332-C4DEE53B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310" y="0"/>
            <a:ext cx="9208310" cy="524524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35C80C9A-9378-0A29-CDB4-397594571601}"/>
              </a:ext>
            </a:extLst>
          </p:cNvPr>
          <p:cNvSpPr/>
          <p:nvPr/>
        </p:nvSpPr>
        <p:spPr>
          <a:xfrm>
            <a:off x="628650" y="1232297"/>
            <a:ext cx="28575" cy="779004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9" name="صورة 18">
            <a:extLst>
              <a:ext uri="{FF2B5EF4-FFF2-40B4-BE49-F238E27FC236}">
                <a16:creationId xmlns:a16="http://schemas.microsoft.com/office/drawing/2014/main" id="{3FD80529-CCD9-31E5-F121-8128FFA1D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310" y="117821"/>
            <a:ext cx="4524208" cy="2672357"/>
          </a:xfrm>
          <a:prstGeom prst="rect">
            <a:avLst/>
          </a:prstGeom>
        </p:spPr>
      </p:pic>
      <p:pic>
        <p:nvPicPr>
          <p:cNvPr id="20" name="صورة 19">
            <a:extLst>
              <a:ext uri="{FF2B5EF4-FFF2-40B4-BE49-F238E27FC236}">
                <a16:creationId xmlns:a16="http://schemas.microsoft.com/office/drawing/2014/main" id="{E9A20028-0BF8-333A-09D8-60AE7EEEA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898" y="117821"/>
            <a:ext cx="4626948" cy="2672358"/>
          </a:xfrm>
          <a:prstGeom prst="rect">
            <a:avLst/>
          </a:prstGeom>
        </p:spPr>
      </p:pic>
      <p:pic>
        <p:nvPicPr>
          <p:cNvPr id="21" name="صورة 20">
            <a:extLst>
              <a:ext uri="{FF2B5EF4-FFF2-40B4-BE49-F238E27FC236}">
                <a16:creationId xmlns:a16="http://schemas.microsoft.com/office/drawing/2014/main" id="{37CB8794-44A1-7104-DBDD-E7678D0E3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4310" y="2790178"/>
            <a:ext cx="4524208" cy="2430712"/>
          </a:xfrm>
          <a:prstGeom prst="rect">
            <a:avLst/>
          </a:prstGeom>
        </p:spPr>
      </p:pic>
      <p:pic>
        <p:nvPicPr>
          <p:cNvPr id="23" name="صورة 22">
            <a:extLst>
              <a:ext uri="{FF2B5EF4-FFF2-40B4-BE49-F238E27FC236}">
                <a16:creationId xmlns:a16="http://schemas.microsoft.com/office/drawing/2014/main" id="{9392EB80-AD5F-254B-52EA-2A2EFF6755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9898" y="2790179"/>
            <a:ext cx="4646382" cy="243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89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429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IMPLEMENTATION &amp; TESTING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082278"/>
            <a:ext cx="3154663" cy="2452092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082278"/>
            <a:ext cx="35719" cy="245209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296591"/>
            <a:ext cx="298321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IDENTITY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4375" y="1562695"/>
            <a:ext cx="29832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Theme: Deep Navy &amp; Gold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14375" y="1891308"/>
            <a:ext cx="29832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Professional, national tone.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4375" y="2219920"/>
            <a:ext cx="29832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Typography: Cairo Font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4375" y="2548533"/>
            <a:ext cx="29832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Arabic-first legibility.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4375" y="2877145"/>
            <a:ext cx="29832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Responsiveness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14375" y="3205758"/>
            <a:ext cx="29832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Works on mobile and desktop.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97613" y="1082278"/>
            <a:ext cx="1856622" cy="232172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4" name="Shape 11"/>
          <p:cNvSpPr/>
          <p:nvPr/>
        </p:nvSpPr>
        <p:spPr>
          <a:xfrm>
            <a:off x="3897613" y="1300163"/>
            <a:ext cx="1856622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2"/>
          <p:cNvSpPr/>
          <p:nvPr/>
        </p:nvSpPr>
        <p:spPr>
          <a:xfrm>
            <a:off x="3897613" y="1082278"/>
            <a:ext cx="1856622" cy="232172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 Scenario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54235" y="1082278"/>
            <a:ext cx="2088710" cy="232172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7" name="Shape 14"/>
          <p:cNvSpPr/>
          <p:nvPr/>
        </p:nvSpPr>
        <p:spPr>
          <a:xfrm>
            <a:off x="5754235" y="1300163"/>
            <a:ext cx="208871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5"/>
          <p:cNvSpPr/>
          <p:nvPr/>
        </p:nvSpPr>
        <p:spPr>
          <a:xfrm>
            <a:off x="5754235" y="1082278"/>
            <a:ext cx="2088710" cy="232172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Expected Outcome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842945" y="1082278"/>
            <a:ext cx="786705" cy="232172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20" name="Shape 17"/>
          <p:cNvSpPr/>
          <p:nvPr/>
        </p:nvSpPr>
        <p:spPr>
          <a:xfrm>
            <a:off x="7842945" y="1300163"/>
            <a:ext cx="786705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8"/>
          <p:cNvSpPr/>
          <p:nvPr/>
        </p:nvSpPr>
        <p:spPr>
          <a:xfrm>
            <a:off x="7842945" y="1082278"/>
            <a:ext cx="786705" cy="232172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Status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97613" y="1307306"/>
            <a:ext cx="1856622" cy="30360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Submit New Request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54235" y="1307306"/>
            <a:ext cx="2088710" cy="30360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Data saved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842945" y="1307306"/>
            <a:ext cx="786705" cy="303609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CC71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PASS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897613" y="1610916"/>
            <a:ext cx="1856622" cy="30718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Admin Login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54235" y="1610916"/>
            <a:ext cx="2088710" cy="30718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Redirect to Dashboard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842945" y="1610916"/>
            <a:ext cx="786705" cy="307181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CC71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PASS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897613" y="1918097"/>
            <a:ext cx="1856622" cy="30718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Update Status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754235" y="1918097"/>
            <a:ext cx="2088710" cy="30718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Real-time UI update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842945" y="1918097"/>
            <a:ext cx="786705" cy="307181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CC71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PASS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897613" y="2225278"/>
            <a:ext cx="1856622" cy="30718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Image Upload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754235" y="2225278"/>
            <a:ext cx="2088710" cy="30718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Secure attachments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842945" y="2225278"/>
            <a:ext cx="786705" cy="307181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CC71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PASS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897613" y="2532459"/>
            <a:ext cx="1856622" cy="30718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Input Validation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754235" y="2532459"/>
            <a:ext cx="2088710" cy="30718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Blocks invalid input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842945" y="2532459"/>
            <a:ext cx="786705" cy="307181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CC71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PASS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28650" y="3648670"/>
            <a:ext cx="8001000" cy="31075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F37"/>
                </a:solidFill>
                <a:latin typeface="Cairo SemiBold" pitchFamily="34" charset="0"/>
                <a:ea typeface="Cairo SemiBold" pitchFamily="34" charset="-122"/>
                <a:cs typeface="Cairo SemiBold" pitchFamily="34" charset="-120"/>
              </a:rPr>
              <a:t>"100% Pass Rate on all critical functional test cases across multiple browsers."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57213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438573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7275" y="1418034"/>
            <a:ext cx="584001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DIGITIZATION OF DATA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057275" y="1662708"/>
            <a:ext cx="58400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Successfully replaced manual entry with a secure database system, reducing errors and data loss.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14759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7275" y="2127052"/>
            <a:ext cx="559891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ENHANCED ACCESSIBILITY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57275" y="2371725"/>
            <a:ext cx="55989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Provided citizens with an easy-to-use portal to submit and track their claims from any device.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2856607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7275" y="2836069"/>
            <a:ext cx="586501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IMPROVED DECISION MAKING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057275" y="3080742"/>
            <a:ext cx="58650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Empowered administrators with real-time statistics to prioritize reconstruction efforts effectively.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28650" y="3366492"/>
            <a:ext cx="8001000" cy="283964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GRMDAS: A scalable solution for organized and transparent recovery.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D4AF3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RECOMMENDATIONS &amp; FUTURE WORK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268016"/>
            <a:ext cx="4086225" cy="2779365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268016"/>
            <a:ext cx="35719" cy="2779365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1543943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8663" y="1525191"/>
            <a:ext cx="190738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RECOMMENDATIONS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1950498"/>
            <a:ext cx="160734" cy="1500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0809" y="1990874"/>
            <a:ext cx="36683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Deployment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760809" y="2176611"/>
            <a:ext cx="36683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Host on high-availability servers (AWS/Azure) to handle traffic and ensure data redundancy.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2733196"/>
            <a:ext cx="128588" cy="1500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8663" y="2733377"/>
            <a:ext cx="37004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Audits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728663" y="2919115"/>
            <a:ext cx="3700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Conduct regular penetration testing to protect sensitive citizen data against cyber threats.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3395311"/>
            <a:ext cx="160734" cy="15001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0809" y="3435689"/>
            <a:ext cx="36683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Staff Training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760809" y="3641522"/>
            <a:ext cx="36683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Organize workshops for administrative staff to ensure proficiency in verification tools.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4629150" y="1268016"/>
            <a:ext cx="4086225" cy="2779365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8" name="Shape 11"/>
          <p:cNvSpPr/>
          <p:nvPr/>
        </p:nvSpPr>
        <p:spPr>
          <a:xfrm>
            <a:off x="4629150" y="1268016"/>
            <a:ext cx="35719" cy="2779365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543943"/>
            <a:ext cx="171450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72050" y="1525191"/>
            <a:ext cx="23074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ENHANCEMENTS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1980643"/>
            <a:ext cx="144661" cy="15001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45261" y="1990874"/>
            <a:ext cx="368438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GIS Integration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4945261" y="2176611"/>
            <a:ext cx="368438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Map damaged buildings on interactive maps to visualize geographical distribution of destruction.</a:t>
            </a:r>
            <a:endParaRPr lang="en-US" sz="8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2703050"/>
            <a:ext cx="128588" cy="15001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29188" y="2733377"/>
            <a:ext cx="37004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AI-Powered Assessment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4929188" y="2919115"/>
            <a:ext cx="3700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F8F9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Utilize Computer Vision to analyze images and provide preliminary damage cost estimates.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959</Words>
  <Application>Microsoft Office PowerPoint</Application>
  <PresentationFormat>عرض على الشاشة (16:9)</PresentationFormat>
  <Paragraphs>171</Paragraphs>
  <Slides>19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5" baseType="lpstr">
      <vt:lpstr>Arial</vt:lpstr>
      <vt:lpstr>Cairo</vt:lpstr>
      <vt:lpstr>Cairo SemiBold</vt:lpstr>
      <vt:lpstr>Montserrat Bold</vt:lpstr>
      <vt:lpstr>Montserrat ExtraBold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Wesam Al -balawi</cp:lastModifiedBy>
  <cp:revision>7</cp:revision>
  <dcterms:created xsi:type="dcterms:W3CDTF">2026-04-30T17:26:51Z</dcterms:created>
  <dcterms:modified xsi:type="dcterms:W3CDTF">2026-05-01T14:07:50Z</dcterms:modified>
</cp:coreProperties>
</file>